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6202"/>
          </a:xfrm>
          <a:prstGeom prst="rect">
            <a:avLst/>
          </a:prstGeom>
          <a:solidFill>
            <a:srgbClr val="006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891588" y="0"/>
            <a:ext cx="0" cy="504825"/>
          </a:xfrm>
          <a:prstGeom prst="line">
            <a:avLst/>
          </a:prstGeom>
          <a:noFill/>
          <a:ln w="504825">
            <a:solidFill>
              <a:srgbClr val="FFB8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39175" y="252413"/>
            <a:ext cx="504825" cy="0"/>
          </a:xfrm>
          <a:prstGeom prst="line">
            <a:avLst/>
          </a:prstGeom>
          <a:noFill/>
          <a:ln w="5048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1000" y="12695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APS调度智能体系统：让调度优化能力民主化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1000" y="523726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C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从专家垄断到人人可用的范式革命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1000" y="933152"/>
            <a:ext cx="2726382" cy="1342430"/>
          </a:xfrm>
          <a:prstGeom prst="roundRect">
            <a:avLst>
              <a:gd name="adj" fmla="val 3784"/>
            </a:avLst>
          </a:prstGeom>
          <a:solidFill>
            <a:srgbClr val="006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460" y="1034653"/>
            <a:ext cx="262546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1460" y="1437829"/>
            <a:ext cx="26254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1460" y="1802904"/>
            <a:ext cx="26254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开发效率提升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90130"/>
            <a:ext cx="2573982" cy="183952"/>
          </a:xfrm>
          <a:prstGeom prst="roundRect">
            <a:avLst>
              <a:gd name="adj" fmla="val 2071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226" y="2015430"/>
            <a:ext cx="25219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3-4周 → 3-5天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8883" y="933152"/>
            <a:ext cx="2726382" cy="1342430"/>
          </a:xfrm>
          <a:prstGeom prst="roundRect">
            <a:avLst>
              <a:gd name="adj" fmla="val 3784"/>
            </a:avLst>
          </a:prstGeom>
          <a:solidFill>
            <a:srgbClr val="006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59343" y="1034653"/>
            <a:ext cx="262546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59343" y="1437829"/>
            <a:ext cx="26254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59343" y="1802904"/>
            <a:ext cx="26254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人力成本降低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85083" y="1990130"/>
            <a:ext cx="2573982" cy="183952"/>
          </a:xfrm>
          <a:prstGeom prst="roundRect">
            <a:avLst>
              <a:gd name="adj" fmla="val 2071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11109" y="2015430"/>
            <a:ext cx="25219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2万元 → 1100元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36766" y="933152"/>
            <a:ext cx="2726382" cy="1342430"/>
          </a:xfrm>
          <a:prstGeom prst="roundRect">
            <a:avLst>
              <a:gd name="adj" fmla="val 3784"/>
            </a:avLst>
          </a:prstGeom>
          <a:solidFill>
            <a:srgbClr val="006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87227" y="1034653"/>
            <a:ext cx="26254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87227" y="1314004"/>
            <a:ext cx="26254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087227" y="1679079"/>
            <a:ext cx="26254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代码可用率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12966" y="1866305"/>
            <a:ext cx="2573982" cy="183952"/>
          </a:xfrm>
          <a:prstGeom prst="roundRect">
            <a:avLst>
              <a:gd name="adj" fmla="val 2071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38992" y="1891605"/>
            <a:ext cx="25219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6层质量门禁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1000" y="2377083"/>
            <a:ext cx="4159300" cy="1580257"/>
          </a:xfrm>
          <a:prstGeom prst="roundRect">
            <a:avLst>
              <a:gd name="adj" fmla="val 3215"/>
            </a:avLst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00050" y="2377083"/>
            <a:ext cx="0" cy="1580257"/>
          </a:xfrm>
          <a:prstGeom prst="line">
            <a:avLst/>
          </a:prstGeom>
          <a:noFill/>
          <a:ln w="38100">
            <a:solidFill>
              <a:srgbClr val="FFB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419" y="2453283"/>
            <a:ext cx="39965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实战验证：数竞杯竞���级通过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0601" y="2713583"/>
            <a:ext cx="1921073" cy="1167557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66059" y="2776984"/>
            <a:ext cx="18301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测试方式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4002" y="2957959"/>
            <a:ext cx="18301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真实比赛题目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84002" y="3116610"/>
            <a:ext cx="18301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AI全自动求解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84002" y="3275261"/>
            <a:ext cx="18301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Theory-to-Code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517874" y="2713583"/>
            <a:ext cx="1921073" cy="1167557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563332" y="2968823"/>
            <a:ext cx="18301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首战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563332" y="3352949"/>
            <a:ext cx="18301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竞赛级验证通过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3332" y="3521125"/>
            <a:ext cx="1830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全自动无人工干预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641800" y="2377083"/>
            <a:ext cx="4121200" cy="1580257"/>
          </a:xfrm>
          <a:prstGeom prst="roundRect">
            <a:avLst>
              <a:gd name="adj" fmla="val 321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743301" y="2662833"/>
            <a:ext cx="3918198" cy="0"/>
          </a:xfrm>
          <a:prstGeom prst="line">
            <a:avLst/>
          </a:prstGeom>
          <a:noFill/>
          <a:ln w="19050">
            <a:solidFill>
              <a:srgbClr val="006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4119" y="2453283"/>
            <a:ext cx="39965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🆚 核心竞争优势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43301" y="2723108"/>
            <a:ext cx="3918198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762351" y="2723108"/>
            <a:ext cx="0" cy="209550"/>
          </a:xfrm>
          <a:prstGeom prst="line">
            <a:avLst/>
          </a:prstGeom>
          <a:noFill/>
          <a:ln w="38100">
            <a:solidFill>
              <a:srgbClr val="006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4802" y="2761208"/>
            <a:ext cx="38283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易用性：自然语言 vs 需要专家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743301" y="2957959"/>
            <a:ext cx="3918198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762351" y="2957959"/>
            <a:ext cx="0" cy="209550"/>
          </a:xfrm>
          <a:prstGeom prst="line">
            <a:avLst/>
          </a:prstGeom>
          <a:noFill/>
          <a:ln w="38100">
            <a:solidFill>
              <a:srgbClr val="006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4802" y="2996059"/>
            <a:ext cx="38283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开发效率：70-130分钟 vs 2-4周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743301" y="3192810"/>
            <a:ext cx="3918198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762351" y="3192810"/>
            <a:ext cx="0" cy="209550"/>
          </a:xfrm>
          <a:prstGeom prst="line">
            <a:avLst/>
          </a:prstGeom>
          <a:noFill/>
          <a:ln w="38100">
            <a:solidFill>
              <a:srgbClr val="0066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4802" y="3230910"/>
            <a:ext cx="38283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领域专业性：专家级 vs 通用能力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43301" y="3427661"/>
            <a:ext cx="3918198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762351" y="3427661"/>
            <a:ext cx="0" cy="209550"/>
          </a:xfrm>
          <a:prstGeom prst="line">
            <a:avLst/>
          </a:prstGeom>
          <a:noFill/>
          <a:ln w="38100">
            <a:solidFill>
              <a:srgbClr val="0066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4802" y="3465761"/>
            <a:ext cx="38283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知识可追溯：完整引用链 vs 黑盒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743301" y="3662511"/>
            <a:ext cx="3918198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4762351" y="3662511"/>
            <a:ext cx="0" cy="209550"/>
          </a:xfrm>
          <a:prstGeom prst="line">
            <a:avLst/>
          </a:prstGeom>
          <a:noFill/>
          <a:ln w="38100">
            <a:solidFill>
              <a:srgbClr val="0066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4802" y="3700611"/>
            <a:ext cx="38283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专业知识库：58+模板持续积累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81000" y="4058841"/>
            <a:ext cx="8382000" cy="932259"/>
          </a:xfrm>
          <a:prstGeom prst="roundRect">
            <a:avLst>
              <a:gd name="adj" fmla="val 5449"/>
            </a:avLst>
          </a:prstGeom>
          <a:solidFill>
            <a:srgbClr val="006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07950" y="4338042"/>
            <a:ext cx="4364236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7950" y="4122241"/>
            <a:ext cx="4451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下一步行动计划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07950" y="4385667"/>
            <a:ext cx="4364236" cy="42624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场景库持续扩充：基于已验证场景，融合更多行业模板</a:t>
            </a:r>
            <a:endParaRPr lang="en-US" sz="600" dirty="0"/>
          </a:p>
          <a:p>
            <a:pPr algn="l" marL="76200" indent="-762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知识持续沉淀：每个项目都成为可复用知识资产</a:t>
            </a:r>
            <a:endParaRPr lang="en-US" sz="600" dirty="0"/>
          </a:p>
          <a:p>
            <a:pPr algn="l" marL="76200" indent="-762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项目交付支撑：支撑更多实际业务落地</a:t>
            </a:r>
            <a:endParaRPr lang="en-US" sz="600" dirty="0"/>
          </a:p>
          <a:p>
            <a:pPr algn="l" marL="76200" indent="-762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技术壁垒建设：申请核心技术专利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4999137" y="4338042"/>
            <a:ext cx="3636913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99137" y="4122241"/>
            <a:ext cx="37096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能力成长路径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99137" y="4410968"/>
            <a:ext cx="3636913" cy="155377"/>
          </a:xfrm>
          <a:prstGeom prst="roundRect">
            <a:avLst>
              <a:gd name="adj" fmla="val 2452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5018187" y="4410968"/>
            <a:ext cx="0" cy="155377"/>
          </a:xfrm>
          <a:prstGeom prst="line">
            <a:avLst/>
          </a:prstGeom>
          <a:noFill/>
          <a:ln w="38100">
            <a:solidFill>
              <a:srgbClr val="FFB8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00638" y="4436269"/>
            <a:ext cx="35414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近期(3个月)</a:t>
            </a:r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场景库扩充至30+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999137" y="4591645"/>
            <a:ext cx="3636913" cy="155377"/>
          </a:xfrm>
          <a:prstGeom prst="roundRect">
            <a:avLst>
              <a:gd name="adj" fmla="val 2452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5018187" y="4591645"/>
            <a:ext cx="0" cy="155377"/>
          </a:xfrm>
          <a:prstGeom prst="line">
            <a:avLst/>
          </a:prstGeom>
          <a:noFill/>
          <a:ln w="38100">
            <a:solidFill>
              <a:srgbClr val="FFB8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0638" y="4616946"/>
            <a:ext cx="35414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中期(6个月)</a:t>
            </a:r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覆盖5个行业领域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4999137" y="4772323"/>
            <a:ext cx="3636913" cy="155377"/>
          </a:xfrm>
          <a:prstGeom prst="roundRect">
            <a:avLst>
              <a:gd name="adj" fmla="val 2452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5018187" y="4772323"/>
            <a:ext cx="0" cy="155377"/>
          </a:xfrm>
          <a:prstGeom prst="line">
            <a:avLst/>
          </a:prstGeom>
          <a:noFill/>
          <a:ln w="38100">
            <a:solidFill>
              <a:srgbClr val="FFB8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00638" y="4797623"/>
            <a:ext cx="35414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远期(12个月)</a:t>
            </a:r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100+场景库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APS调度智能体系统 - 价值汇报</dc:title>
  <dc:subject>PptxGenJS Presentation</dc:subject>
  <dc:creator>APS团队</dc:creator>
  <cp:lastModifiedBy>APS团队</cp:lastModifiedBy>
  <cp:revision>1</cp:revision>
  <dcterms:created xsi:type="dcterms:W3CDTF">2025-11-21T10:12:12Z</dcterms:created>
  <dcterms:modified xsi:type="dcterms:W3CDTF">2025-11-21T10:12:12Z</dcterms:modified>
</cp:coreProperties>
</file>