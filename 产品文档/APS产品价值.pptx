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849" y="76200"/>
            <a:ext cx="842030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让调度优化能力民主化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1849" y="552450"/>
            <a:ext cx="8420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从专家垄断到人人可用的范式革命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44401" y="784175"/>
            <a:ext cx="2700933" cy="1454944"/>
          </a:xfrm>
          <a:prstGeom prst="roundRect">
            <a:avLst>
              <a:gd name="adj" fmla="val 523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115" y="885676"/>
            <a:ext cx="259950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5115" y="1314301"/>
            <a:ext cx="25995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5115" y="1692027"/>
            <a:ext cx="25995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开发效率提升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0601" y="1888778"/>
            <a:ext cx="2548533" cy="248841"/>
          </a:xfrm>
          <a:prstGeom prst="roundRect">
            <a:avLst>
              <a:gd name="adj" fmla="val 1531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6881" y="1914079"/>
            <a:ext cx="2495973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3-4周 → 3-5天</a:t>
            </a:r>
            <a:endParaRPr lang="en-US" sz="65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响应速度提升3-5倍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221534" y="784175"/>
            <a:ext cx="2700933" cy="1454944"/>
          </a:xfrm>
          <a:prstGeom prst="roundRect">
            <a:avLst>
              <a:gd name="adj" fmla="val 523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2248" y="885676"/>
            <a:ext cx="259950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72248" y="1314301"/>
            <a:ext cx="25995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72248" y="1692027"/>
            <a:ext cx="25995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人力成本降低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7734" y="1888778"/>
            <a:ext cx="2548533" cy="248841"/>
          </a:xfrm>
          <a:prstGeom prst="roundRect">
            <a:avLst>
              <a:gd name="adj" fmla="val 1531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24014" y="1914079"/>
            <a:ext cx="2495973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2万元 → 1100元</a:t>
            </a:r>
            <a:endParaRPr lang="en-US" sz="65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专家时间节省95%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998666" y="784175"/>
            <a:ext cx="2700933" cy="1454944"/>
          </a:xfrm>
          <a:prstGeom prst="roundRect">
            <a:avLst>
              <a:gd name="adj" fmla="val 523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49381" y="885676"/>
            <a:ext cx="2599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49381" y="1190476"/>
            <a:ext cx="25995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49381" y="1568202"/>
            <a:ext cx="25995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代码可用率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74866" y="1764953"/>
            <a:ext cx="2548533" cy="248841"/>
          </a:xfrm>
          <a:prstGeom prst="roundRect">
            <a:avLst>
              <a:gd name="adj" fmla="val 1531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01146" y="1790254"/>
            <a:ext cx="2495973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6层质量门禁</a:t>
            </a:r>
            <a:endParaRPr lang="en-US" sz="65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100%可追溯性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44401" y="2315319"/>
            <a:ext cx="8255198" cy="1593205"/>
          </a:xfrm>
          <a:prstGeom prst="roundRect">
            <a:avLst>
              <a:gd name="adj" fmla="val 4783"/>
            </a:avLst>
          </a:prstGeom>
          <a:solidFill>
            <a:srgbClr val="FCB69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6518" y="2378720"/>
            <a:ext cx="82909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实战验证：数竞杯调度优化赛题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802" y="2680246"/>
            <a:ext cx="2500461" cy="1164878"/>
          </a:xfrm>
          <a:prstGeom prst="roundRect">
            <a:avLst>
              <a:gd name="adj" fmla="val 5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7466" y="2743646"/>
            <a:ext cx="24211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7402" y="2915096"/>
            <a:ext cx="2343409" cy="9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真实比赛题目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47402" y="3031182"/>
            <a:ext cx="2343409" cy="9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AI智能体全自动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47402" y="3147268"/>
            <a:ext cx="2343409" cy="9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Theory-to-Code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084463" y="2680246"/>
            <a:ext cx="2975223" cy="1164878"/>
          </a:xfrm>
          <a:prstGeom prst="roundRect">
            <a:avLst>
              <a:gd name="adj" fmla="val 5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19379" y="2811661"/>
            <a:ext cx="29053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首战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119379" y="3275112"/>
            <a:ext cx="2905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竞赛级验证通过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19379" y="3462338"/>
            <a:ext cx="290539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全自动无人工干预</a:t>
            </a:r>
            <a:endParaRPr lang="en-US" sz="600" dirty="0"/>
          </a:p>
          <a:p>
            <a:pPr algn="ctr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端到端生成</a:t>
            </a:r>
            <a:endParaRPr lang="en-US" sz="600" dirty="0"/>
          </a:p>
          <a:p>
            <a:pPr algn="ctr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独立参赛能力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35886" y="2680246"/>
            <a:ext cx="2500461" cy="1164878"/>
          </a:xfrm>
          <a:prstGeom prst="roundRect">
            <a:avLst>
              <a:gd name="adj" fmla="val 5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75550" y="2743646"/>
            <a:ext cx="24211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已验证场景库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99287" y="2915096"/>
            <a:ext cx="2421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新能源补能调度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199287" y="3051572"/>
            <a:ext cx="24211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已融合场景库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199287" y="3194447"/>
            <a:ext cx="2421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车辆路径优化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99287" y="3330922"/>
            <a:ext cx="24211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物流配送场景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199287" y="3473797"/>
            <a:ext cx="24211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生产作业调度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99287" y="3638848"/>
            <a:ext cx="24211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制造场景验证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44401" y="3984724"/>
            <a:ext cx="4089499" cy="1139577"/>
          </a:xfrm>
          <a:prstGeom prst="roundRect">
            <a:avLst>
              <a:gd name="adj" fmla="val 66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07802" y="4273451"/>
            <a:ext cx="3962698" cy="0"/>
          </a:xfrm>
          <a:prstGeom prst="line">
            <a:avLst/>
          </a:prstGeom>
          <a:noFill/>
          <a:ln w="19050">
            <a:solidFill>
              <a:srgbClr val="667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5" y="4048125"/>
            <a:ext cx="40419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🆚 核心竞争优势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4002" y="4333726"/>
            <a:ext cx="3964228" cy="9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传统软件：</a:t>
            </a:r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自然语言输入 | 70-130分钟交付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84002" y="4449812"/>
            <a:ext cx="3964228" cy="9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AI助手：</a:t>
            </a:r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调度专家级 | 完整引用链 | 58+模板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84002" y="4565898"/>
            <a:ext cx="3964228" cy="9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知识积累：</a:t>
            </a:r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持续沉淀 | 100%可追溯 | 端到端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84002" y="4681984"/>
            <a:ext cx="3964228" cy="9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质量保证：</a:t>
            </a:r>
            <a:pPr algn="l" indent="0" marL="0">
              <a:lnSpc>
                <a:spcPts val="715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6层门禁 | 92%可用率 | Guardrails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610100" y="3984724"/>
            <a:ext cx="4089499" cy="1139577"/>
          </a:xfrm>
          <a:prstGeom prst="roundRect">
            <a:avLst>
              <a:gd name="adj" fmla="val 66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673501" y="4292501"/>
            <a:ext cx="3962698" cy="0"/>
          </a:xfrm>
          <a:prstGeom prst="line">
            <a:avLst/>
          </a:prstGeom>
          <a:noFill/>
          <a:ln w="19050">
            <a:solidFill>
              <a:srgbClr val="667E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3874" y="4048125"/>
            <a:ext cx="40419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下一步行动计划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73501" y="4352776"/>
            <a:ext cx="40419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 (3个月)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673501" y="4479727"/>
            <a:ext cx="4041952" cy="8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场景库扩充至30+ | 2个标杆项目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673501" y="4588818"/>
            <a:ext cx="40419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 (6个月)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673501" y="4715768"/>
            <a:ext cx="4041952" cy="8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覆盖5个行业领域 | 申请专利2项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673501" y="4824859"/>
            <a:ext cx="40419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 (12个月)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673501" y="4951809"/>
            <a:ext cx="4041952" cy="8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"/>
              </a:lnSpc>
              <a:spcAft>
                <a:spcPts val="200"/>
              </a:spcAft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100+场景库 | 产品化服务能力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APS产品价值</dc:title>
  <dc:subject>PptxGenJS Presentation</dc:subject>
  <dc:creator>BMAD</dc:creator>
  <cp:lastModifiedBy>BMAD</cp:lastModifiedBy>
  <cp:revision>1</cp:revision>
  <dcterms:created xsi:type="dcterms:W3CDTF">2025-11-21T06:55:03Z</dcterms:created>
  <dcterms:modified xsi:type="dcterms:W3CDTF">2025-11-21T06:55:03Z</dcterms:modified>
</cp:coreProperties>
</file>