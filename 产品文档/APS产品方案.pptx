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D8A99"/>
                </a:solidFill>
              </a:defRPr>
            </a:pPr>
            <a:r>
              <a:t>APS调度智能体系统 - 重新定义调度优化的研发方式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4114800" cy="10972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周期过长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E5E5"/>
                </a:solidFill>
              </a:defRPr>
            </a:pPr>
            <a:r>
              <a:t>3-4周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554480"/>
            <a:ext cx="4114800" cy="10972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645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0116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成本高昂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2860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E5E5"/>
                </a:solidFill>
              </a:defRPr>
            </a:pPr>
            <a:r>
              <a:t>2万元+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554480"/>
            <a:ext cx="4114800" cy="10972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645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116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知识流失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2860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E5E5"/>
                </a:solidFill>
              </a:defRPr>
            </a:pPr>
            <a: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3464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A5568"/>
                </a:solidFill>
              </a:defRPr>
            </a:pPr>
            <a:r>
              <a:t>系统架构：7大专家智能体 + 4大知识库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18288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💬 自然语言</a:t>
            </a:r>
            <a:br/>
            <a:r>
              <a:t>业务需求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18288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🤝 人机协作</a:t>
            </a:r>
            <a:br/>
            <a:r>
              <a:t>P0-P4交互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291840"/>
            <a:ext cx="8229600" cy="457200"/>
          </a:xfrm>
          <a:prstGeom prst="rect">
            <a:avLst/>
          </a:prstGeom>
          <a:solidFill>
            <a:srgbClr val="8B5CF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🎯 总指挥 | Phase 0-4编排 | 专家协调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840480"/>
            <a:ext cx="1280160" cy="45720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🏭 领域</a:t>
            </a:r>
            <a:br/>
            <a:r>
              <a:t>-56%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53712" y="3840480"/>
            <a:ext cx="1280160" cy="45720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🔒 约束</a:t>
            </a:r>
            <a:br/>
            <a:r>
              <a:t>-60%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7024" y="3840480"/>
            <a:ext cx="1280160" cy="45720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🎯 目标</a:t>
            </a:r>
            <a:br/>
            <a:r>
              <a:t>-67%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0336" y="3840480"/>
            <a:ext cx="1280160" cy="45720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⚡ 算法</a:t>
            </a:r>
            <a:br/>
            <a:r>
              <a:t>-87%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13648" y="3840480"/>
            <a:ext cx="1280160" cy="45720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💻 编码</a:t>
            </a:r>
            <a:br/>
            <a:r>
              <a:t>-65%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3840480"/>
            <a:ext cx="1280160" cy="45720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✅ 质量</a:t>
            </a:r>
            <a:br/>
            <a:r>
              <a:t>6层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4389120"/>
            <a:ext cx="8229600" cy="640080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📚 四大知识库体系 - Agent as Doc核心</a:t>
            </a:r>
            <a:br/>
            <a:r>
              <a:t>领域(10+) | 约束(20+) | 目标(15+) | 算法(13+)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070080" y="3291840"/>
            <a:ext cx="18288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💻 可执行代码</a:t>
            </a:r>
            <a:br/>
            <a:r>
              <a:t>92%可用率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070080" y="4023360"/>
            <a:ext cx="18288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📊 完整文档</a:t>
            </a:r>
            <a:br/>
            <a:r>
              <a:t>100%可追溯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2064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A5568"/>
                </a:solidFill>
              </a:defRPr>
            </a:pPr>
            <a:r>
              <a:t>工作流程：70-130分钟端到端完成</a:t>
            </a:r>
          </a:p>
        </p:txBody>
      </p:sp>
      <p:sp>
        <p:nvSpPr>
          <p:cNvPr id="30" name="Trapezoid 29"/>
          <p:cNvSpPr/>
          <p:nvPr/>
        </p:nvSpPr>
        <p:spPr>
          <a:xfrm>
            <a:off x="1737360" y="5577840"/>
            <a:ext cx="731520" cy="731520"/>
          </a:xfrm>
          <a:prstGeom prst="trapezoid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2" name="Trapezoid 31"/>
          <p:cNvSpPr/>
          <p:nvPr/>
        </p:nvSpPr>
        <p:spPr>
          <a:xfrm>
            <a:off x="2286000" y="5440680"/>
            <a:ext cx="320040" cy="320040"/>
          </a:xfrm>
          <a:prstGeom prst="trapezoid">
            <a:avLst/>
          </a:prstGeom>
          <a:solidFill>
            <a:srgbClr val="FF6B6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54406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A5568"/>
                </a:solidFill>
              </a:defRPr>
            </a:pPr>
            <a:r>
              <a:t>任务规划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6751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6B6B"/>
                </a:solidFill>
              </a:defRPr>
            </a:pPr>
            <a:r>
              <a:t>5-8min</a:t>
            </a:r>
          </a:p>
        </p:txBody>
      </p:sp>
      <p:sp>
        <p:nvSpPr>
          <p:cNvPr id="35" name="Trapezoid 34"/>
          <p:cNvSpPr/>
          <p:nvPr/>
        </p:nvSpPr>
        <p:spPr>
          <a:xfrm>
            <a:off x="3931920" y="5577840"/>
            <a:ext cx="731520" cy="731520"/>
          </a:xfrm>
          <a:prstGeom prst="trapezoid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7" name="Trapezoid 36"/>
          <p:cNvSpPr/>
          <p:nvPr/>
        </p:nvSpPr>
        <p:spPr>
          <a:xfrm>
            <a:off x="4480560" y="5440680"/>
            <a:ext cx="320040" cy="320040"/>
          </a:xfrm>
          <a:prstGeom prst="trapezoid">
            <a:avLst/>
          </a:prstGeom>
          <a:solidFill>
            <a:srgbClr val="FF6B6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54406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A5568"/>
                </a:solidFill>
              </a:defRPr>
            </a:pPr>
            <a:r>
              <a:t>需求分析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66751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6B6B"/>
                </a:solidFill>
              </a:defRPr>
            </a:pPr>
            <a:r>
              <a:t>10-15min</a:t>
            </a:r>
          </a:p>
        </p:txBody>
      </p:sp>
      <p:sp>
        <p:nvSpPr>
          <p:cNvPr id="40" name="Trapezoid 39"/>
          <p:cNvSpPr/>
          <p:nvPr/>
        </p:nvSpPr>
        <p:spPr>
          <a:xfrm>
            <a:off x="6126480" y="5577840"/>
            <a:ext cx="731520" cy="731520"/>
          </a:xfrm>
          <a:prstGeom prst="trapezoid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1.5</a:t>
            </a:r>
          </a:p>
        </p:txBody>
      </p:sp>
      <p:sp>
        <p:nvSpPr>
          <p:cNvPr id="42" name="Trapezoid 41"/>
          <p:cNvSpPr/>
          <p:nvPr/>
        </p:nvSpPr>
        <p:spPr>
          <a:xfrm>
            <a:off x="6675120" y="5440680"/>
            <a:ext cx="320040" cy="320040"/>
          </a:xfrm>
          <a:prstGeom prst="trapezoid">
            <a:avLst/>
          </a:prstGeom>
          <a:solidFill>
            <a:srgbClr val="FF6B6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54406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A5568"/>
                </a:solidFill>
              </a:defRPr>
            </a:pPr>
            <a:r>
              <a:t>十要素建模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66751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6B6B"/>
                </a:solidFill>
              </a:defRPr>
            </a:pPr>
            <a:r>
              <a:t>5-15min</a:t>
            </a:r>
          </a:p>
        </p:txBody>
      </p:sp>
      <p:sp>
        <p:nvSpPr>
          <p:cNvPr id="45" name="Trapezoid 44"/>
          <p:cNvSpPr/>
          <p:nvPr/>
        </p:nvSpPr>
        <p:spPr>
          <a:xfrm>
            <a:off x="8321040" y="5577840"/>
            <a:ext cx="731520" cy="731520"/>
          </a:xfrm>
          <a:prstGeom prst="trapezoid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A5568"/>
                </a:solidFill>
              </a:defRPr>
            </a:pPr>
            <a:r>
              <a:t>专家协调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66751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6B6B"/>
                </a:solidFill>
              </a:defRPr>
            </a:pPr>
            <a:r>
              <a:t>10-48min</a:t>
            </a:r>
          </a:p>
        </p:txBody>
      </p:sp>
      <p:sp>
        <p:nvSpPr>
          <p:cNvPr id="48" name="Trapezoid 47"/>
          <p:cNvSpPr/>
          <p:nvPr/>
        </p:nvSpPr>
        <p:spPr>
          <a:xfrm>
            <a:off x="10515600" y="5577840"/>
            <a:ext cx="731520" cy="731520"/>
          </a:xfrm>
          <a:prstGeom prst="trapezoid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0" name="Trapezoid 49"/>
          <p:cNvSpPr/>
          <p:nvPr/>
        </p:nvSpPr>
        <p:spPr>
          <a:xfrm>
            <a:off x="11064240" y="5440680"/>
            <a:ext cx="320040" cy="320040"/>
          </a:xfrm>
          <a:prstGeom prst="trapezoid">
            <a:avLst/>
          </a:prstGeom>
          <a:solidFill>
            <a:srgbClr val="FF6B6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064240" y="544068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A5568"/>
                </a:solidFill>
              </a:defRPr>
            </a:pPr>
            <a:r>
              <a:t>方案集成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66751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6B6B"/>
                </a:solidFill>
              </a:defRPr>
            </a:pPr>
            <a:r>
              <a:t>15-20min</a:t>
            </a:r>
          </a:p>
        </p:txBody>
      </p:sp>
      <p:sp>
        <p:nvSpPr>
          <p:cNvPr id="53" name="Trapezoid 52"/>
          <p:cNvSpPr/>
          <p:nvPr/>
        </p:nvSpPr>
        <p:spPr>
          <a:xfrm>
            <a:off x="12710160" y="5577840"/>
            <a:ext cx="731520" cy="731520"/>
          </a:xfrm>
          <a:prstGeom prst="trapezoid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07008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A5568"/>
                </a:solidFill>
              </a:defRPr>
            </a:pPr>
            <a:r>
              <a:t>质量保证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070080" y="66751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6B6B"/>
                </a:solidFill>
              </a:defRPr>
            </a:pPr>
            <a:r>
              <a:t>9-12min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7132320"/>
            <a:ext cx="4114800" cy="91440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71780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📚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7388352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 as Doc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7571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CD34D"/>
                </a:solidFill>
              </a:defRPr>
            </a:pPr>
            <a:r>
              <a:t>↑75-87%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" y="7790688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智能体=角色+动态加载 | Token效率提升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0" y="7132320"/>
            <a:ext cx="4114800" cy="91440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0" y="71780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0" y="7388352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Theory-to-Code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0" y="7571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CD34D"/>
                </a:solidFill>
              </a:defRPr>
            </a:pPr>
            <a:r>
              <a:t>92%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0" y="7790688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需求→建模→代码 | 全自动生成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58400" y="7132320"/>
            <a:ext cx="4114800" cy="914400"/>
          </a:xfrm>
          <a:prstGeom prst="rect">
            <a:avLst/>
          </a:prstGeom>
          <a:solidFill>
            <a:srgbClr val="4F46E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8400" y="71780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7388352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Human-in-Loop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0" y="7571232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CD34D"/>
                </a:solidFill>
              </a:defRPr>
            </a:pPr>
            <a:r>
              <a:t>P0-P4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0" y="7790688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关键决策人机协作 | 任务偏离↓67%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