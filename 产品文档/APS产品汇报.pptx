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APS调度智能体系统 - 重新定义调度优化的研发方式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4114800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114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⏰ 周期过长</a:t>
            </a:r>
          </a:p>
          <a:p>
            <a:pPr algn="ctr">
              <a:defRPr sz="2400" b="1">
                <a:solidFill>
                  <a:srgbClr val="FFD700"/>
                </a:solidFill>
              </a:defRPr>
            </a:pPr>
            <a:r>
              <a:t>3-4周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4114800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463040"/>
            <a:ext cx="4114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💰 成本高昂</a:t>
            </a:r>
          </a:p>
          <a:p>
            <a:pPr algn="ctr">
              <a:defRPr sz="2400" b="1">
                <a:solidFill>
                  <a:srgbClr val="FFD700"/>
                </a:solidFill>
              </a:defRPr>
            </a:pPr>
            <a:r>
              <a:t>2万元+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463040"/>
            <a:ext cx="4114800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1463040"/>
            <a:ext cx="4114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📉 知识流失</a:t>
            </a:r>
          </a:p>
          <a:p>
            <a:pPr algn="ctr">
              <a:defRPr sz="2400" b="1">
                <a:solidFill>
                  <a:srgbClr val="FFD700"/>
                </a:solidFill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系统架构：7大专家智能体 + 4大知识库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6858000"/>
            <a:ext cx="4114800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858000"/>
            <a:ext cx="4114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📚 Agent as Doc</a:t>
            </a:r>
          </a:p>
          <a:p>
            <a:pPr algn="ctr">
              <a:defRPr sz="2200" b="1">
                <a:solidFill>
                  <a:srgbClr val="FFD700"/>
                </a:solidFill>
              </a:defRPr>
            </a:pPr>
            <a:r>
              <a:t>↑75-87%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智能体=角色+动态加载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6858000"/>
            <a:ext cx="4114800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6858000"/>
            <a:ext cx="4114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🔄 Theory-to-Code</a:t>
            </a:r>
          </a:p>
          <a:p>
            <a:pPr algn="ctr">
              <a:defRPr sz="2200" b="1">
                <a:solidFill>
                  <a:srgbClr val="FFD700"/>
                </a:solidFill>
              </a:defRPr>
            </a:pPr>
            <a:r>
              <a:t>92%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需求→建模→代码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6858000"/>
            <a:ext cx="4114800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6858000"/>
            <a:ext cx="4114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🤝 Human-in-Loop</a:t>
            </a:r>
          </a:p>
          <a:p>
            <a:pPr algn="ctr">
              <a:defRPr sz="2200" b="1">
                <a:solidFill>
                  <a:srgbClr val="FFD700"/>
                </a:solidFill>
              </a:defRPr>
            </a:pPr>
            <a:r>
              <a:t>P0-P4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关键决策人机协作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2608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516C"/>
                </a:solidFill>
              </a:defRPr>
            </a:pPr>
            <a:r>
              <a:t>🎯 总指挥：Phase 0-4 全流程编排与专家协调</a:t>
            </a:r>
          </a:p>
          <a:p>
            <a:pPr>
              <a:spcAft>
                <a:spcPts val="800"/>
              </a:spcAft>
              <a:defRPr sz="1400">
                <a:solidFill>
                  <a:srgbClr val="667EEA"/>
                </a:solidFill>
              </a:defRPr>
            </a:pPr>
            <a:r>
              <a:t>🏭 领域专家(-56% Token) | 🔒 约束专家(-60% Token) | 🎯 目标专家(-67% Token)</a:t>
            </a:r>
          </a:p>
          <a:p>
            <a:pPr>
              <a:spcAft>
                <a:spcPts val="800"/>
              </a:spcAft>
              <a:defRPr sz="1400">
                <a:solidFill>
                  <a:srgbClr val="667EEA"/>
                </a:solidFill>
              </a:defRPr>
            </a:pPr>
            <a:r>
              <a:t>⚡ 算法专家(-87% Token) | 💻 编码专家(-65% Token) | ✅ 质量专家(6层门禁)</a:t>
            </a:r>
          </a:p>
          <a:p>
            <a:br/>
            <a:pPr>
              <a:spcAft>
                <a:spcPts val="1000"/>
              </a:spcAft>
              <a:defRPr sz="1600" b="1">
                <a:solidFill>
                  <a:srgbClr val="1A5F3F"/>
                </a:solidFill>
              </a:defRPr>
            </a:pPr>
            <a:r>
              <a:t>📚 四大知识库体系 - Agent as Doc核心竞争力：</a:t>
            </a:r>
          </a:p>
          <a:p>
            <a:pPr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• 🏭 领域知识库(10+ 模板)：物流配送、生产调度、人员排班、项目管理</a:t>
            </a:r>
          </a:p>
          <a:p>
            <a:pPr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• 🔒 约束知识库(20+ 模板)：时间窗约束、容量约束、空间约束、逻辑约束</a:t>
            </a:r>
          </a:p>
          <a:p>
            <a:pPr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• 🎯 目标知识库(15+ 模板)：成本最小化、时间最优、多目标优化、帕累托分析</a:t>
            </a:r>
          </a:p>
          <a:p>
            <a:pPr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• ⚡ 算法知识库(13+ 模板)：遗传算法、禁忌搜索、整数规划、启发式算法</a:t>
            </a:r>
          </a:p>
          <a:p>
            <a:br/>
            <a:pPr>
              <a:spcAft>
                <a:spcPts val="800"/>
              </a:spcAft>
              <a:defRPr sz="1600" b="1">
                <a:solidFill>
                  <a:srgbClr val="2C3E50"/>
                </a:solidFill>
              </a:defRPr>
            </a:pPr>
            <a:r>
              <a:t>🔄 工作流程 (70-130分钟端到端)：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P0: 任务规划(5-8min) → P1: 需求分析(10-15min) → P1.5: 十要素建模(5-15min)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P2: 专家协调(10-48min) → P3: 方案集成(15-20min) → P4: 质量保证(9-12min)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产品价值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让调度优化能力民主化，让每个企业都能拥有专业级解决方案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2801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🎯 核心价值主张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85%效率提升 × 94.5%成本降低 × 92%质量保证 = 调度优化的范式革命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2801600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62179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⚡ 效率革命</a:t>
            </a:r>
          </a:p>
          <a:p>
            <a:pPr>
              <a:spcAft>
                <a:spcPts val="800"/>
              </a:spcAft>
              <a:defRPr sz="1100">
                <a:solidFill>
                  <a:srgbClr val="7F8C8D"/>
                </a:solidFill>
              </a:defRPr>
            </a:pPr>
            <a:r>
              <a:t>从周到小时的跨越</a:t>
            </a:r>
          </a:p>
          <a:p>
            <a:pPr>
              <a:spcAft>
                <a:spcPts val="300"/>
              </a:spcAft>
              <a:defRPr sz="1200" b="1">
                <a:solidFill>
                  <a:srgbClr val="667EEA"/>
                </a:solidFill>
              </a:defRPr>
            </a:pPr>
            <a:r>
              <a:t>↑85% 开发效率 (3-4周 → 2小时)</a:t>
            </a:r>
          </a:p>
          <a:p>
            <a:pPr>
              <a:spcAft>
                <a:spcPts val="300"/>
              </a:spcAft>
              <a:defRPr sz="1200" b="1">
                <a:solidFill>
                  <a:srgbClr val="667EEA"/>
                </a:solidFill>
              </a:defRPr>
            </a:pPr>
            <a:r>
              <a:t>↑95% 专家时间节省 (80h → 2h)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0" y="2286000"/>
            <a:ext cx="62179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💰 成本优势</a:t>
            </a:r>
          </a:p>
          <a:p>
            <a:pPr>
              <a:spcAft>
                <a:spcPts val="800"/>
              </a:spcAft>
              <a:defRPr sz="1100">
                <a:solidFill>
                  <a:srgbClr val="7F8C8D"/>
                </a:solidFill>
              </a:defRPr>
            </a:pPr>
            <a:r>
              <a:t>人力成本断崖式下降</a:t>
            </a:r>
          </a:p>
          <a:p>
            <a:pPr>
              <a:spcAft>
                <a:spcPts val="300"/>
              </a:spcAft>
              <a:defRPr sz="1200" b="1">
                <a:solidFill>
                  <a:srgbClr val="667EEA"/>
                </a:solidFill>
              </a:defRPr>
            </a:pPr>
            <a:r>
              <a:t>↓94.5% 人力成本 (2万 → 1100元)</a:t>
            </a:r>
          </a:p>
          <a:p>
            <a:pPr>
              <a:spcAft>
                <a:spcPts val="300"/>
              </a:spcAft>
              <a:defRPr sz="1200" b="1">
                <a:solidFill>
                  <a:srgbClr val="667EEA"/>
                </a:solidFill>
              </a:defRPr>
            </a:pPr>
            <a:r>
              <a:t>↓90% 试错成本 (快速迭代)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62179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✅ 质量保证</a:t>
            </a:r>
          </a:p>
          <a:p>
            <a:pPr>
              <a:spcAft>
                <a:spcPts val="800"/>
              </a:spcAft>
              <a:defRPr sz="1100">
                <a:solidFill>
                  <a:srgbClr val="7F8C8D"/>
                </a:solidFill>
              </a:defRPr>
            </a:pPr>
            <a:r>
              <a:t>6层门禁严控质量</a:t>
            </a:r>
          </a:p>
          <a:p>
            <a:pPr>
              <a:spcAft>
                <a:spcPts val="300"/>
              </a:spcAft>
              <a:defRPr sz="1200" b="1">
                <a:solidFill>
                  <a:srgbClr val="667EEA"/>
                </a:solidFill>
              </a:defRPr>
            </a:pPr>
            <a:r>
              <a:t>92% 代码可用率 (业界领先)</a:t>
            </a:r>
          </a:p>
          <a:p>
            <a:pPr>
              <a:spcAft>
                <a:spcPts val="300"/>
              </a:spcAft>
              <a:defRPr sz="1200" b="1">
                <a:solidFill>
                  <a:srgbClr val="667EEA"/>
                </a:solidFill>
              </a:defRPr>
            </a:pPr>
            <a:r>
              <a:t>100% 可追溯性 (引用完整)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4297680"/>
            <a:ext cx="621792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38912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📚 知识资产</a:t>
            </a:r>
          </a:p>
          <a:p>
            <a:pPr>
              <a:spcAft>
                <a:spcPts val="800"/>
              </a:spcAft>
              <a:defRPr sz="1100">
                <a:solidFill>
                  <a:srgbClr val="7F8C8D"/>
                </a:solidFill>
              </a:defRPr>
            </a:pPr>
            <a:r>
              <a:t>持续积累组织能力</a:t>
            </a:r>
          </a:p>
          <a:p>
            <a:pPr>
              <a:spcAft>
                <a:spcPts val="300"/>
              </a:spcAft>
              <a:defRPr sz="1200" b="1">
                <a:solidFill>
                  <a:srgbClr val="667EEA"/>
                </a:solidFill>
              </a:defRPr>
            </a:pPr>
            <a:r>
              <a:t>92.5% 知识复用率 (模板化)</a:t>
            </a:r>
          </a:p>
          <a:p>
            <a:pPr>
              <a:spcAft>
                <a:spcPts val="300"/>
              </a:spcAft>
              <a:defRPr sz="1200" b="1">
                <a:solidFill>
                  <a:srgbClr val="667EEA"/>
                </a:solidFill>
              </a:defRPr>
            </a:pPr>
            <a:r>
              <a:t>↓87% 学习曲线 (3月 → 2周)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35400"/>
                </a:solidFill>
              </a:defRPr>
            </a:pPr>
            <a:r>
              <a:t>💎 单项目ROI对比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4922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传统方式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专家成本: 20,000元 | 周期: 3-4周 | 试错: +10,000元</a:t>
            </a:r>
          </a:p>
          <a:p>
            <a:pPr algn="ctr">
              <a:defRPr sz="1600" b="1">
                <a:solidFill>
                  <a:srgbClr val="E74C3C"/>
                </a:solidFill>
              </a:defRPr>
            </a:pPr>
            <a:r>
              <a:t>总成本: ≈ 20,000+元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6492240"/>
            <a:ext cx="5029200" cy="731520"/>
          </a:xfrm>
          <a:prstGeom prst="rect">
            <a:avLst/>
          </a:prstGeom>
          <a:solidFill>
            <a:srgbClr val="FF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6751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922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APS系统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LLM成本: 100元 | 专家审核: 1,000元 | 周期: 2小时</a:t>
            </a:r>
          </a:p>
          <a:p>
            <a:pPr algn="ctr">
              <a:defRPr sz="1600" b="1">
                <a:solidFill>
                  <a:srgbClr val="27AE60"/>
                </a:solidFill>
              </a:defRPr>
            </a:pPr>
            <a:r>
              <a:t>总成本: ≈ 1,100元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6492240"/>
            <a:ext cx="5029200" cy="731520"/>
          </a:xfrm>
          <a:prstGeom prst="rect">
            <a:avLst/>
          </a:prstGeom>
          <a:solidFill>
            <a:srgbClr val="FF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7132320"/>
            <a:ext cx="3108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7223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💡 技术创新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▸ Agent as Doc业界首创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▸ Theory-to-Code引擎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7132320"/>
            <a:ext cx="3108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7223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🎓 专业深度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▸ 7大专家智能体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▸ 100+知识模板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7132320"/>
            <a:ext cx="3108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7223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🚀 应用场景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▸ 物流成本↓15%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▸ 制造周期↓20%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0" y="7132320"/>
            <a:ext cx="3108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7223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🎯 战略目标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▸ 6月: 100+用户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▸ 12月: 200+客户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