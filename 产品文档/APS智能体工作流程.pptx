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67EEA"/>
                </a:solidFill>
              </a:defRPr>
            </a:pPr>
            <a:r>
              <a:t>APS智能体团队工作流程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371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0B0B0"/>
                </a:solidFill>
              </a:defRPr>
            </a:pPr>
            <a:r>
              <a:t>Phase 0-4 端到端协作流程 | 双模式交互 | 状态持久化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371600" y="2011680"/>
            <a:ext cx="11887200" cy="0"/>
          </a:xfrm>
          <a:prstGeom prst="line">
            <a:avLst/>
          </a:prstGeom>
          <a:ln w="38100">
            <a:solidFill>
              <a:srgbClr val="667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005840" y="1645920"/>
            <a:ext cx="731520" cy="731520"/>
          </a:xfrm>
          <a:prstGeom prst="ellipse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7315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P0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t>任务规划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972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5-8min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325880"/>
            <a:ext cx="1097280" cy="22860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097280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P0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1097280"/>
            <a:ext cx="365760" cy="182880"/>
          </a:xfrm>
          <a:prstGeom prst="round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83280" y="1645920"/>
            <a:ext cx="731520" cy="731520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645920"/>
            <a:ext cx="7315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P1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t>需求分析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325880"/>
            <a:ext cx="10972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10-15min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1325880"/>
            <a:ext cx="1097280" cy="22860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40" y="1097280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P1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49040" y="1097280"/>
            <a:ext cx="365760" cy="1828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60720" y="1645920"/>
            <a:ext cx="731520" cy="73152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0" y="1645920"/>
            <a:ext cx="7315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P1.5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t>十要素建模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1325880"/>
            <a:ext cx="10972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5-15min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77840" y="1325880"/>
            <a:ext cx="1097280" cy="22860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1097280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P0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1097280"/>
            <a:ext cx="365760" cy="182880"/>
          </a:xfrm>
          <a:prstGeom prst="round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38160" y="1645920"/>
            <a:ext cx="731520" cy="73152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1645920"/>
            <a:ext cx="7315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P2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t>专家协调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0" y="1325880"/>
            <a:ext cx="10972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10-48min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80" y="1325880"/>
            <a:ext cx="1097280" cy="22860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515600" y="1645920"/>
            <a:ext cx="731520" cy="731520"/>
          </a:xfrm>
          <a:prstGeom prst="ellipse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0" y="1645920"/>
            <a:ext cx="7315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P3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t>方案集成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1325880"/>
            <a:ext cx="10972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15-20min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32720" y="1325880"/>
            <a:ext cx="1097280" cy="22860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81360" y="1097280"/>
            <a:ext cx="36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P0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881360" y="1097280"/>
            <a:ext cx="365760" cy="182880"/>
          </a:xfrm>
          <a:prstGeom prst="round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2893040" y="1645920"/>
            <a:ext cx="731520" cy="73152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893040" y="1645920"/>
            <a:ext cx="7315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P4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t>质量保证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710160" y="1325880"/>
            <a:ext cx="10972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9-12min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710160" y="1325880"/>
            <a:ext cx="1097280" cy="22860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70708" y="2926080"/>
            <a:ext cx="1920240" cy="3474720"/>
          </a:xfrm>
          <a:prstGeom prst="roundRect">
            <a:avLst/>
          </a:prstGeom>
          <a:solidFill>
            <a:srgbClr val="282832"/>
          </a:solidFill>
          <a:ln w="254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2148" y="3017520"/>
            <a:ext cx="1737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C8C8C8"/>
                </a:solidFill>
              </a:defRPr>
            </a:pPr>
            <a:r>
              <a:t>参与者:</a:t>
            </a:r>
          </a:p>
          <a:p>
            <a:pPr>
              <a:spcAft>
                <a:spcPts val="200"/>
              </a:spcAft>
              <a:defRPr sz="700">
                <a:solidFill>
                  <a:srgbClr val="90CAF9"/>
                </a:solidFill>
              </a:defRPr>
            </a:pPr>
            <a:r>
              <a:t>🎯 总指挥</a:t>
            </a:r>
          </a:p>
          <a:p>
            <a:pPr>
              <a:spcAft>
                <a:spcPts val="200"/>
              </a:spcAft>
              <a:defRPr sz="700">
                <a:solidFill>
                  <a:srgbClr val="90CAF9"/>
                </a:solidFill>
              </a:defRPr>
            </a:pPr>
            <a:r>
              <a:t>👤 用户</a:t>
            </a:r>
          </a:p>
          <a:p>
            <a:br/>
            <a:pPr>
              <a:spcAft>
                <a:spcPts val="300"/>
              </a:spcAft>
              <a:defRPr sz="800" b="1">
                <a:solidFill>
                  <a:srgbClr val="C8C8C8"/>
                </a:solidFill>
              </a:defRPr>
            </a:pPr>
            <a:r>
              <a:t>任务:</a:t>
            </a:r>
          </a:p>
          <a:p>
            <a:pPr>
              <a:spcAft>
                <a:spcPts val="200"/>
              </a:spcAft>
              <a:defRPr sz="600">
                <a:solidFill>
                  <a:srgbClr val="B0B0B0"/>
                </a:solidFill>
              </a:defRPr>
            </a:pPr>
            <a:r>
              <a:t>▸ 接收需求，生成Todo List</a:t>
            </a:r>
          </a:p>
          <a:p>
            <a:pPr>
              <a:spcAft>
                <a:spcPts val="200"/>
              </a:spcAft>
              <a:defRPr sz="600">
                <a:solidFill>
                  <a:srgbClr val="B0B0B0"/>
                </a:solidFill>
              </a:defRPr>
            </a:pPr>
            <a:r>
              <a:t>▸ 估算时间成本</a:t>
            </a:r>
          </a:p>
          <a:p>
            <a:pPr>
              <a:spcAft>
                <a:spcPts val="200"/>
              </a:spcAft>
              <a:defRPr sz="600">
                <a:solidFill>
                  <a:srgbClr val="B0B0B0"/>
                </a:solidFill>
              </a:defRPr>
            </a:pPr>
            <a:r>
              <a:t>▸ 用户确认（执行合同）</a:t>
            </a:r>
          </a:p>
          <a:p>
            <a:br/>
            <a:pPr>
              <a:defRPr sz="700" b="1">
                <a:solidFill>
                  <a:srgbClr val="C8C8C8"/>
                </a:solidFill>
              </a:defRPr>
            </a:pPr>
            <a:r>
              <a:t>交付物:</a:t>
            </a:r>
          </a:p>
          <a:p>
            <a:pPr>
              <a:defRPr sz="600">
                <a:solidFill>
                  <a:srgbClr val="B0B0B0"/>
                </a:solidFill>
              </a:defRPr>
            </a:pPr>
            <a:r>
              <a:t>📄 phase_0_state.yaml</a:t>
            </a:r>
            <a:br/>
            <a:r>
              <a:t>Todo List基线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004457" y="2926080"/>
            <a:ext cx="1920240" cy="3474720"/>
          </a:xfrm>
          <a:prstGeom prst="roundRect">
            <a:avLst/>
          </a:prstGeom>
          <a:solidFill>
            <a:srgbClr val="282832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95897" y="3017520"/>
            <a:ext cx="1737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C8C8C8"/>
                </a:solidFill>
              </a:defRPr>
            </a:pPr>
            <a:r>
              <a:t>参与者:</a:t>
            </a:r>
          </a:p>
          <a:p>
            <a:pPr>
              <a:spcAft>
                <a:spcPts val="200"/>
              </a:spcAft>
              <a:defRPr sz="700">
                <a:solidFill>
                  <a:srgbClr val="90CAF9"/>
                </a:solidFill>
              </a:defRPr>
            </a:pPr>
            <a:r>
              <a:t>🎯 总指挥</a:t>
            </a:r>
          </a:p>
          <a:p>
            <a:br/>
            <a:pPr>
              <a:spcAft>
                <a:spcPts val="300"/>
              </a:spcAft>
              <a:defRPr sz="800" b="1">
                <a:solidFill>
                  <a:srgbClr val="C8C8C8"/>
                </a:solidFill>
              </a:defRPr>
            </a:pPr>
            <a:r>
              <a:t>任务:</a:t>
            </a:r>
          </a:p>
          <a:p>
            <a:pPr>
              <a:spcAft>
                <a:spcPts val="200"/>
              </a:spcAft>
              <a:defRPr sz="600">
                <a:solidFill>
                  <a:srgbClr val="B0B0B0"/>
                </a:solidFill>
              </a:defRPr>
            </a:pPr>
            <a:r>
              <a:t>▸ 深度语义解析</a:t>
            </a:r>
          </a:p>
          <a:p>
            <a:pPr>
              <a:spcAft>
                <a:spcPts val="200"/>
              </a:spcAft>
              <a:defRPr sz="600">
                <a:solidFill>
                  <a:srgbClr val="B0B0B0"/>
                </a:solidFill>
              </a:defRPr>
            </a:pPr>
            <a:r>
              <a:t>▸ 识别关键信息</a:t>
            </a:r>
          </a:p>
          <a:p>
            <a:pPr>
              <a:spcAft>
                <a:spcPts val="200"/>
              </a:spcAft>
              <a:defRPr sz="600">
                <a:solidFill>
                  <a:srgbClr val="B0B0B0"/>
                </a:solidFill>
              </a:defRPr>
            </a:pPr>
            <a:r>
              <a:t>▸ 置信度评估（&lt;0.7触发澄清）</a:t>
            </a:r>
          </a:p>
          <a:p>
            <a:br/>
            <a:pPr>
              <a:defRPr sz="700" b="1">
                <a:solidFill>
                  <a:srgbClr val="C8C8C8"/>
                </a:solidFill>
              </a:defRPr>
            </a:pPr>
            <a:r>
              <a:t>交付物:</a:t>
            </a:r>
          </a:p>
          <a:p>
            <a:pPr>
              <a:defRPr sz="600">
                <a:solidFill>
                  <a:srgbClr val="B0B0B0"/>
                </a:solidFill>
              </a:defRPr>
            </a:pPr>
            <a:r>
              <a:t>📄 phase_1_state.yaml</a:t>
            </a:r>
            <a:br/>
            <a:r>
              <a:t>需求分析结果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238205" y="2926080"/>
            <a:ext cx="1920240" cy="3474720"/>
          </a:xfrm>
          <a:prstGeom prst="roundRect">
            <a:avLst/>
          </a:prstGeom>
          <a:solidFill>
            <a:srgbClr val="282832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29645" y="3017520"/>
            <a:ext cx="1737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C8C8C8"/>
                </a:solidFill>
              </a:defRPr>
            </a:pPr>
            <a:r>
              <a:t>参与者:</a:t>
            </a:r>
          </a:p>
          <a:p>
            <a:pPr>
              <a:spcAft>
                <a:spcPts val="200"/>
              </a:spcAft>
              <a:defRPr sz="700">
                <a:solidFill>
                  <a:srgbClr val="90CAF9"/>
                </a:solidFill>
              </a:defRPr>
            </a:pPr>
            <a:r>
              <a:t>🎯 总指挥</a:t>
            </a:r>
          </a:p>
          <a:p>
            <a:pPr>
              <a:spcAft>
                <a:spcPts val="200"/>
              </a:spcAft>
              <a:defRPr sz="700">
                <a:solidFill>
                  <a:srgbClr val="90CAF9"/>
                </a:solidFill>
              </a:defRPr>
            </a:pPr>
            <a:r>
              <a:t>👤 用户</a:t>
            </a:r>
          </a:p>
          <a:p>
            <a:br/>
            <a:pPr>
              <a:spcAft>
                <a:spcPts val="300"/>
              </a:spcAft>
              <a:defRPr sz="800" b="1">
                <a:solidFill>
                  <a:srgbClr val="C8C8C8"/>
                </a:solidFill>
              </a:defRPr>
            </a:pPr>
            <a:r>
              <a:t>任务:</a:t>
            </a:r>
          </a:p>
          <a:p>
            <a:pPr>
              <a:spcAft>
                <a:spcPts val="200"/>
              </a:spcAft>
              <a:defRPr sz="600">
                <a:solidFill>
                  <a:srgbClr val="B0B0B0"/>
                </a:solidFill>
              </a:defRPr>
            </a:pPr>
            <a:r>
              <a:t>▸ 构建TenElementModel</a:t>
            </a:r>
          </a:p>
          <a:p>
            <a:pPr>
              <a:spcAft>
                <a:spcPts val="200"/>
              </a:spcAft>
              <a:defRPr sz="600">
                <a:solidFill>
                  <a:srgbClr val="B0B0B0"/>
                </a:solidFill>
              </a:defRPr>
            </a:pPr>
            <a:r>
              <a:t>▸ 模式A:全部确认 | 模式B:框架确认</a:t>
            </a:r>
          </a:p>
          <a:p>
            <a:br/>
            <a:pPr>
              <a:spcAft>
                <a:spcPts val="400"/>
              </a:spcAft>
              <a:defRPr sz="600">
                <a:solidFill>
                  <a:srgbClr val="FFD700"/>
                </a:solidFill>
              </a:defRPr>
            </a:pPr>
            <a:r>
              <a:t>🔒 统一真相源 - 后续专家基于此模型工作</a:t>
            </a:r>
          </a:p>
          <a:p>
            <a:br/>
            <a:pPr>
              <a:defRPr sz="700" b="1">
                <a:solidFill>
                  <a:srgbClr val="C8C8C8"/>
                </a:solidFill>
              </a:defRPr>
            </a:pPr>
            <a:r>
              <a:t>交付物:</a:t>
            </a:r>
          </a:p>
          <a:p>
            <a:pPr>
              <a:defRPr sz="600">
                <a:solidFill>
                  <a:srgbClr val="E74C3C"/>
                </a:solidFill>
              </a:defRPr>
            </a:pPr>
            <a:r>
              <a:t>📄 phase_1_5_state.yaml</a:t>
            </a:r>
            <a:br/>
            <a:r>
              <a:t>TenElementModel（关键依赖）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71954" y="2926080"/>
            <a:ext cx="1920240" cy="3474720"/>
          </a:xfrm>
          <a:prstGeom prst="roundRect">
            <a:avLst/>
          </a:prstGeom>
          <a:solidFill>
            <a:srgbClr val="282832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63394" y="3017520"/>
            <a:ext cx="1737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C8C8C8"/>
                </a:solidFill>
              </a:defRPr>
            </a:pPr>
            <a:r>
              <a:t>参与者:</a:t>
            </a:r>
          </a:p>
          <a:p>
            <a:pPr>
              <a:spcAft>
                <a:spcPts val="200"/>
              </a:spcAft>
              <a:defRPr sz="700">
                <a:solidFill>
                  <a:srgbClr val="90CAF9"/>
                </a:solidFill>
              </a:defRPr>
            </a:pPr>
            <a:r>
              <a:t>🏭 领域</a:t>
            </a:r>
          </a:p>
          <a:p>
            <a:pPr>
              <a:spcAft>
                <a:spcPts val="200"/>
              </a:spcAft>
              <a:defRPr sz="700">
                <a:solidFill>
                  <a:srgbClr val="90CAF9"/>
                </a:solidFill>
              </a:defRPr>
            </a:pPr>
            <a:r>
              <a:t>🔒 约束</a:t>
            </a:r>
          </a:p>
          <a:p>
            <a:pPr>
              <a:spcAft>
                <a:spcPts val="200"/>
              </a:spcAft>
              <a:defRPr sz="700">
                <a:solidFill>
                  <a:srgbClr val="90CAF9"/>
                </a:solidFill>
              </a:defRPr>
            </a:pPr>
            <a:r>
              <a:t>🎯 目标</a:t>
            </a:r>
          </a:p>
          <a:p>
            <a:pPr>
              <a:spcAft>
                <a:spcPts val="200"/>
              </a:spcAft>
              <a:defRPr sz="700">
                <a:solidFill>
                  <a:srgbClr val="90CAF9"/>
                </a:solidFill>
              </a:defRPr>
            </a:pPr>
            <a:r>
              <a:t>⚡ 算法</a:t>
            </a:r>
          </a:p>
          <a:p>
            <a:br/>
            <a:pPr>
              <a:spcAft>
                <a:spcPts val="300"/>
              </a:spcAft>
              <a:defRPr sz="800" b="1">
                <a:solidFill>
                  <a:srgbClr val="C8C8C8"/>
                </a:solidFill>
              </a:defRPr>
            </a:pPr>
            <a:r>
              <a:t>任务:</a:t>
            </a:r>
          </a:p>
          <a:p>
            <a:pPr>
              <a:spcAft>
                <a:spcPts val="200"/>
              </a:spcAft>
              <a:defRPr sz="600">
                <a:solidFill>
                  <a:srgbClr val="B0B0B0"/>
                </a:solidFill>
              </a:defRPr>
            </a:pPr>
            <a:r>
              <a:t>▸ 加载TenElementModel（前置验证）</a:t>
            </a:r>
          </a:p>
          <a:p>
            <a:pPr>
              <a:spcAft>
                <a:spcPts val="200"/>
              </a:spcAft>
              <a:defRPr sz="600">
                <a:solidFill>
                  <a:srgbClr val="B0B0B0"/>
                </a:solidFill>
              </a:defRPr>
            </a:pPr>
            <a:r>
              <a:t>▸ 🔌 MCP读取历史数据</a:t>
            </a:r>
          </a:p>
          <a:p>
            <a:pPr>
              <a:spcAft>
                <a:spcPts val="200"/>
              </a:spcAft>
              <a:defRPr sz="600">
                <a:solidFill>
                  <a:srgbClr val="B0B0B0"/>
                </a:solidFill>
              </a:defRPr>
            </a:pPr>
            <a:r>
              <a:t>▸ 跨专家一致性校验</a:t>
            </a:r>
          </a:p>
          <a:p>
            <a:br/>
            <a:pPr>
              <a:defRPr sz="700" b="1">
                <a:solidFill>
                  <a:srgbClr val="FFC107"/>
                </a:solidFill>
              </a:defRPr>
            </a:pPr>
            <a:r>
              <a:t>并行执行:</a:t>
            </a:r>
          </a:p>
          <a:p>
            <a:pPr>
              <a:spcAft>
                <a:spcPts val="200"/>
              </a:spcAft>
              <a:defRPr sz="600">
                <a:solidFill>
                  <a:srgbClr val="90CAF9"/>
                </a:solidFill>
              </a:defRPr>
            </a:pPr>
            <a:r>
              <a:t>• 🏭 领域识别 Token↓56%</a:t>
            </a:r>
          </a:p>
          <a:p>
            <a:pPr>
              <a:spcAft>
                <a:spcPts val="200"/>
              </a:spcAft>
              <a:defRPr sz="600">
                <a:solidFill>
                  <a:srgbClr val="90CAF9"/>
                </a:solidFill>
              </a:defRPr>
            </a:pPr>
            <a:r>
              <a:t>• 🔒 约束建模 Token↓60%</a:t>
            </a:r>
          </a:p>
          <a:p>
            <a:br/>
            <a:pPr>
              <a:defRPr sz="700" b="1">
                <a:solidFill>
                  <a:srgbClr val="C8C8C8"/>
                </a:solidFill>
              </a:defRPr>
            </a:pPr>
            <a:r>
              <a:t>交付物:</a:t>
            </a:r>
          </a:p>
          <a:p>
            <a:pPr>
              <a:defRPr sz="600">
                <a:solidFill>
                  <a:srgbClr val="B0B0B0"/>
                </a:solidFill>
              </a:defRPr>
            </a:pPr>
            <a:r>
              <a:t>📄 phase_2_state.yaml</a:t>
            </a:r>
            <a:br/>
            <a:r>
              <a:t>4份专家报告+一致性验证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05702" y="2926080"/>
            <a:ext cx="1920240" cy="3474720"/>
          </a:xfrm>
          <a:prstGeom prst="roundRect">
            <a:avLst/>
          </a:prstGeom>
          <a:solidFill>
            <a:srgbClr val="282832"/>
          </a:solidFill>
          <a:ln w="2540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97142" y="3017520"/>
            <a:ext cx="1737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C8C8C8"/>
                </a:solidFill>
              </a:defRPr>
            </a:pPr>
            <a:r>
              <a:t>参与者:</a:t>
            </a:r>
          </a:p>
          <a:p>
            <a:pPr>
              <a:spcAft>
                <a:spcPts val="200"/>
              </a:spcAft>
              <a:defRPr sz="700">
                <a:solidFill>
                  <a:srgbClr val="90CAF9"/>
                </a:solidFill>
              </a:defRPr>
            </a:pPr>
            <a:r>
              <a:t>🎯 总指挥</a:t>
            </a:r>
          </a:p>
          <a:p>
            <a:pPr>
              <a:spcAft>
                <a:spcPts val="200"/>
              </a:spcAft>
              <a:defRPr sz="700">
                <a:solidFill>
                  <a:srgbClr val="90CAF9"/>
                </a:solidFill>
              </a:defRPr>
            </a:pPr>
            <a:r>
              <a:t>💻 编码专家</a:t>
            </a:r>
          </a:p>
          <a:p>
            <a:br/>
            <a:pPr>
              <a:spcAft>
                <a:spcPts val="300"/>
              </a:spcAft>
              <a:defRPr sz="800" b="1">
                <a:solidFill>
                  <a:srgbClr val="C8C8C8"/>
                </a:solidFill>
              </a:defRPr>
            </a:pPr>
            <a:r>
              <a:t>任务:</a:t>
            </a:r>
          </a:p>
          <a:p>
            <a:pPr>
              <a:spcAft>
                <a:spcPts val="200"/>
              </a:spcAft>
              <a:defRPr sz="600">
                <a:solidFill>
                  <a:srgbClr val="B0B0B0"/>
                </a:solidFill>
              </a:defRPr>
            </a:pPr>
            <a:r>
              <a:t>▸ 集成4份专家报告</a:t>
            </a:r>
          </a:p>
          <a:p>
            <a:pPr>
              <a:spcAft>
                <a:spcPts val="200"/>
              </a:spcAft>
              <a:defRPr sz="600">
                <a:solidFill>
                  <a:srgbClr val="B0B0B0"/>
                </a:solidFill>
              </a:defRPr>
            </a:pPr>
            <a:r>
              <a:t>▸ Theory-to-Code生成Python代码</a:t>
            </a:r>
          </a:p>
          <a:p>
            <a:pPr>
              <a:spcAft>
                <a:spcPts val="200"/>
              </a:spcAft>
              <a:defRPr sz="600">
                <a:solidFill>
                  <a:srgbClr val="B0B0B0"/>
                </a:solidFill>
              </a:defRPr>
            </a:pPr>
            <a:r>
              <a:t>▸ 生成完整文档</a:t>
            </a:r>
          </a:p>
          <a:p>
            <a:br/>
            <a:pPr>
              <a:spcAft>
                <a:spcPts val="400"/>
              </a:spcAft>
              <a:defRPr sz="600">
                <a:solidFill>
                  <a:srgbClr val="FFD700"/>
                </a:solidFill>
              </a:defRPr>
            </a:pPr>
            <a:r>
              <a:t>💡 92%代码直接可用</a:t>
            </a:r>
          </a:p>
          <a:p>
            <a:br/>
            <a:pPr>
              <a:defRPr sz="700" b="1">
                <a:solidFill>
                  <a:srgbClr val="C8C8C8"/>
                </a:solidFill>
              </a:defRPr>
            </a:pPr>
            <a:r>
              <a:t>交付物:</a:t>
            </a:r>
          </a:p>
          <a:p>
            <a:pPr>
              <a:defRPr sz="600">
                <a:solidFill>
                  <a:srgbClr val="B0B0B0"/>
                </a:solidFill>
              </a:defRPr>
            </a:pPr>
            <a:r>
              <a:t>📄 phase_3_state.yaml</a:t>
            </a:r>
            <a:br/>
            <a:r>
              <a:t>代码+文档+方案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939451" y="2926080"/>
            <a:ext cx="1920240" cy="3474720"/>
          </a:xfrm>
          <a:prstGeom prst="roundRect">
            <a:avLst/>
          </a:prstGeom>
          <a:solidFill>
            <a:srgbClr val="282832"/>
          </a:solidFill>
          <a:ln w="254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030891" y="3017520"/>
            <a:ext cx="1737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C8C8C8"/>
                </a:solidFill>
              </a:defRPr>
            </a:pPr>
            <a:r>
              <a:t>参与者:</a:t>
            </a:r>
          </a:p>
          <a:p>
            <a:pPr>
              <a:spcAft>
                <a:spcPts val="200"/>
              </a:spcAft>
              <a:defRPr sz="700">
                <a:solidFill>
                  <a:srgbClr val="90CAF9"/>
                </a:solidFill>
              </a:defRPr>
            </a:pPr>
            <a:r>
              <a:t>✅ 质量专家</a:t>
            </a:r>
          </a:p>
          <a:p>
            <a:br/>
            <a:pPr>
              <a:spcAft>
                <a:spcPts val="300"/>
              </a:spcAft>
              <a:defRPr sz="800" b="1">
                <a:solidFill>
                  <a:srgbClr val="C8C8C8"/>
                </a:solidFill>
              </a:defRPr>
            </a:pPr>
            <a:r>
              <a:t>任务:</a:t>
            </a:r>
          </a:p>
          <a:p>
            <a:pPr>
              <a:spcAft>
                <a:spcPts val="200"/>
              </a:spcAft>
              <a:defRPr sz="600">
                <a:solidFill>
                  <a:srgbClr val="B0B0B0"/>
                </a:solidFill>
              </a:defRPr>
            </a:pPr>
            <a:r>
              <a:t>▸ 语法检查 + 逻辑验证</a:t>
            </a:r>
          </a:p>
          <a:p>
            <a:pPr>
              <a:spcAft>
                <a:spcPts val="200"/>
              </a:spcAft>
              <a:defRPr sz="600">
                <a:solidFill>
                  <a:srgbClr val="B0B0B0"/>
                </a:solidFill>
              </a:defRPr>
            </a:pPr>
            <a:r>
              <a:t>▸ 一致性检查（TenElementModel对齐）</a:t>
            </a:r>
          </a:p>
          <a:p>
            <a:pPr>
              <a:spcAft>
                <a:spcPts val="200"/>
              </a:spcAft>
              <a:defRPr sz="600">
                <a:solidFill>
                  <a:srgbClr val="B0B0B0"/>
                </a:solidFill>
              </a:defRPr>
            </a:pPr>
            <a:r>
              <a:t>▸ Guardrails验证（引用完整性）</a:t>
            </a:r>
          </a:p>
          <a:p>
            <a:br/>
            <a:pPr>
              <a:defRPr sz="700" b="1">
                <a:solidFill>
                  <a:srgbClr val="C8C8C8"/>
                </a:solidFill>
              </a:defRPr>
            </a:pPr>
            <a:r>
              <a:t>交付物:</a:t>
            </a:r>
          </a:p>
          <a:p>
            <a:pPr>
              <a:defRPr sz="600">
                <a:solidFill>
                  <a:srgbClr val="4CAF50"/>
                </a:solidFill>
              </a:defRPr>
            </a:pPr>
            <a:r>
              <a:t>✅ 最终交付物</a:t>
            </a:r>
            <a:br/>
            <a:r>
              <a:t>代码+文档+报告 | 可用率: 92%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4400" y="6675120"/>
            <a:ext cx="12801600" cy="82296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4400" y="6812280"/>
            <a:ext cx="3200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70-130min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端到端总时间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800" y="6812280"/>
            <a:ext cx="3200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7个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智能体协作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0" y="6812280"/>
            <a:ext cx="3200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4-6次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人机交互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0" y="6812280"/>
            <a:ext cx="3200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100%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可追溯性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14400" y="7680960"/>
            <a:ext cx="182880" cy="182880"/>
          </a:xfrm>
          <a:prstGeom prst="round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88720" y="7680960"/>
            <a:ext cx="29260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800">
                <a:solidFill>
                  <a:srgbClr val="C8C8C8"/>
                </a:solidFill>
              </a:defRPr>
            </a:pPr>
            <a:r>
              <a:t>P0: 强制交互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114800" y="7680960"/>
            <a:ext cx="182880" cy="1828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389120" y="7680960"/>
            <a:ext cx="29260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800">
                <a:solidFill>
                  <a:srgbClr val="C8C8C8"/>
                </a:solidFill>
              </a:defRPr>
            </a:pPr>
            <a:r>
              <a:t>P1: 建议澄清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315200" y="7680960"/>
            <a:ext cx="182880" cy="18288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89520" y="7680960"/>
            <a:ext cx="29260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800">
                <a:solidFill>
                  <a:srgbClr val="C8C8C8"/>
                </a:solidFill>
              </a:defRPr>
            </a:pPr>
            <a:r>
              <a:t>🔌 MCP: 数据访问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515600" y="7680960"/>
            <a:ext cx="182880" cy="1828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789920" y="7680960"/>
            <a:ext cx="29260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800">
                <a:solidFill>
                  <a:srgbClr val="C8C8C8"/>
                </a:solidFill>
              </a:defRPr>
            </a:pPr>
            <a:r>
              <a:t>关键依赖: TenElementModel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7955279"/>
            <a:ext cx="1371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99999"/>
                </a:solidFill>
              </a:defRPr>
            </a:pPr>
            <a:r>
              <a:t>APS调度智能体系统 v4.3 | 工作流程详解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