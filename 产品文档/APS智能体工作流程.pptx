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91440" y="190500"/>
            <a:ext cx="932688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APS智能体团队工作流程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-91440" y="742950"/>
            <a:ext cx="932688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0-4 端到端协作流程 | 双模式交互 | 状态持久化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8041" y="1622375"/>
            <a:ext cx="7147917" cy="50750"/>
          </a:xfrm>
          <a:prstGeom prst="rect">
            <a:avLst/>
          </a:prstGeom>
          <a:solidFill>
            <a:srgbClr val="667EE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82067" y="1050875"/>
            <a:ext cx="888950" cy="888950"/>
          </a:xfrm>
          <a:prstGeom prst="roundRect">
            <a:avLst>
              <a:gd name="adj" fmla="val 102863"/>
            </a:avLst>
          </a:prstGeom>
          <a:solidFill>
            <a:srgbClr val="9C27B0"/>
          </a:solidFill>
          <a:ln/>
          <a:effectLst>
            <a:outerShdw sx="100000" sy="100000" kx="0" ky="0" algn="bl" rotWithShape="0" blurRad="152400" dist="50800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6335" y="606475"/>
            <a:ext cx="220117" cy="288727"/>
          </a:xfrm>
          <a:prstGeom prst="roundRect">
            <a:avLst>
              <a:gd name="adj" fmla="val 34618"/>
            </a:avLst>
          </a:prstGeom>
          <a:solidFill>
            <a:srgbClr val="D32F2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79736" y="707975"/>
            <a:ext cx="951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806946" y="796975"/>
            <a:ext cx="438894" cy="323552"/>
          </a:xfrm>
          <a:prstGeom prst="roundRect">
            <a:avLst>
              <a:gd name="adj" fmla="val 31402"/>
            </a:avLst>
          </a:prstGeom>
          <a:solidFill>
            <a:srgbClr val="4A55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83146" y="911126"/>
            <a:ext cx="29222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5-8min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810369" y="1293763"/>
            <a:ext cx="44084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16918" y="1566714"/>
            <a:ext cx="4274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任务规划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96900" y="2193727"/>
            <a:ext cx="1659285" cy="1412230"/>
          </a:xfrm>
          <a:prstGeom prst="roundRect">
            <a:avLst>
              <a:gd name="adj" fmla="val 5396"/>
            </a:avLst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215950" y="2193727"/>
            <a:ext cx="0" cy="1412230"/>
          </a:xfrm>
          <a:prstGeom prst="line">
            <a:avLst/>
          </a:prstGeom>
          <a:noFill/>
          <a:ln w="38100">
            <a:solidFill>
              <a:srgbClr val="9C27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00" y="2571304"/>
            <a:ext cx="1446547" cy="13007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t"/>
          <a:lstStyle/>
          <a:p>
            <a:pPr algn="l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接收需求，生成Todo List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36500" y="2777579"/>
            <a:ext cx="1446547" cy="13007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t"/>
          <a:lstStyle/>
          <a:p>
            <a:pPr algn="l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用户确认（执行合同）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336500" y="2983855"/>
            <a:ext cx="1418183" cy="520601"/>
          </a:xfrm>
          <a:prstGeom prst="roundRect">
            <a:avLst>
              <a:gd name="adj" fmla="val 9758"/>
            </a:avLst>
          </a:prstGeom>
          <a:solidFill>
            <a:srgbClr val="667EE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74084" y="3110805"/>
            <a:ext cx="13430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phase_0_state.yaml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374084" y="3272730"/>
            <a:ext cx="134301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List基线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2000250" y="1050875"/>
            <a:ext cx="888950" cy="888950"/>
          </a:xfrm>
          <a:prstGeom prst="roundRect">
            <a:avLst>
              <a:gd name="adj" fmla="val 102863"/>
            </a:avLst>
          </a:prstGeom>
          <a:solidFill>
            <a:srgbClr val="2196F3"/>
          </a:solidFill>
          <a:ln/>
          <a:effectLst>
            <a:outerShdw sx="100000" sy="100000" kx="0" ky="0" algn="bl" rotWithShape="0" blurRad="152400" dist="50800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334518" y="606475"/>
            <a:ext cx="220117" cy="288727"/>
          </a:xfrm>
          <a:prstGeom prst="roundRect">
            <a:avLst>
              <a:gd name="adj" fmla="val 34618"/>
            </a:avLst>
          </a:prstGeom>
          <a:solidFill>
            <a:srgbClr val="FF98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397919" y="707975"/>
            <a:ext cx="951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175718" y="796975"/>
            <a:ext cx="537716" cy="323552"/>
          </a:xfrm>
          <a:prstGeom prst="roundRect">
            <a:avLst>
              <a:gd name="adj" fmla="val 31402"/>
            </a:avLst>
          </a:prstGeom>
          <a:solidFill>
            <a:srgbClr val="4A55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251918" y="911126"/>
            <a:ext cx="3930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10-15min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2228552" y="1293763"/>
            <a:ext cx="44084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235101" y="1566714"/>
            <a:ext cx="4274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需求分析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615083" y="2193727"/>
            <a:ext cx="1659285" cy="1412230"/>
          </a:xfrm>
          <a:prstGeom prst="roundRect">
            <a:avLst>
              <a:gd name="adj" fmla="val 5396"/>
            </a:avLst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1634133" y="2193727"/>
            <a:ext cx="0" cy="1412230"/>
          </a:xfrm>
          <a:prstGeom prst="line">
            <a:avLst/>
          </a:prstGeom>
          <a:noFill/>
          <a:ln w="38100">
            <a:solidFill>
              <a:srgbClr val="2196F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54684" y="2571304"/>
            <a:ext cx="1446547" cy="13007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t"/>
          <a:lstStyle/>
          <a:p>
            <a:pPr algn="l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深度语义解析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754684" y="2777579"/>
            <a:ext cx="1446547" cy="13007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t"/>
          <a:lstStyle/>
          <a:p>
            <a:pPr algn="l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置信度评估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1754684" y="2983855"/>
            <a:ext cx="1418183" cy="520601"/>
          </a:xfrm>
          <a:prstGeom prst="roundRect">
            <a:avLst>
              <a:gd name="adj" fmla="val 9758"/>
            </a:avLst>
          </a:prstGeom>
          <a:solidFill>
            <a:srgbClr val="667EE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792267" y="3110805"/>
            <a:ext cx="13430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phase_1_state.yaml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792267" y="3272730"/>
            <a:ext cx="134301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需求分析结果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418433" y="1050875"/>
            <a:ext cx="888950" cy="888950"/>
          </a:xfrm>
          <a:prstGeom prst="roundRect">
            <a:avLst>
              <a:gd name="adj" fmla="val 102863"/>
            </a:avLst>
          </a:prstGeom>
          <a:solidFill>
            <a:srgbClr val="FF9800"/>
          </a:solidFill>
          <a:ln/>
          <a:effectLst>
            <a:outerShdw sx="100000" sy="100000" kx="0" ky="0" algn="bl" rotWithShape="0" blurRad="152400" dist="50800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752701" y="606475"/>
            <a:ext cx="220117" cy="288727"/>
          </a:xfrm>
          <a:prstGeom prst="roundRect">
            <a:avLst>
              <a:gd name="adj" fmla="val 34618"/>
            </a:avLst>
          </a:prstGeom>
          <a:solidFill>
            <a:srgbClr val="D32F2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816102" y="707975"/>
            <a:ext cx="951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618607" y="796975"/>
            <a:ext cx="488305" cy="323552"/>
          </a:xfrm>
          <a:prstGeom prst="roundRect">
            <a:avLst>
              <a:gd name="adj" fmla="val 31402"/>
            </a:avLst>
          </a:prstGeom>
          <a:solidFill>
            <a:srgbClr val="4A55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694807" y="911126"/>
            <a:ext cx="3426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5-15min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3599111" y="1293763"/>
            <a:ext cx="53799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1.5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600896" y="1566714"/>
            <a:ext cx="53435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十要素建模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033266" y="2193727"/>
            <a:ext cx="1659285" cy="1393180"/>
          </a:xfrm>
          <a:prstGeom prst="roundRect">
            <a:avLst>
              <a:gd name="adj" fmla="val 5470"/>
            </a:avLst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3052316" y="2193727"/>
            <a:ext cx="0" cy="1393180"/>
          </a:xfrm>
          <a:prstGeom prst="line">
            <a:avLst/>
          </a:prstGeom>
          <a:noFill/>
          <a:ln w="38100">
            <a:solidFill>
              <a:srgbClr val="FF98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172867" y="2571304"/>
            <a:ext cx="1446547" cy="13007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t"/>
          <a:lstStyle/>
          <a:p>
            <a:pPr algn="l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构建TenElementModel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3172867" y="2777579"/>
            <a:ext cx="1446547" cy="13007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t"/>
          <a:lstStyle/>
          <a:p>
            <a:pPr algn="l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统一真相源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3172867" y="2983855"/>
            <a:ext cx="1418183" cy="501551"/>
          </a:xfrm>
          <a:prstGeom prst="roundRect">
            <a:avLst>
              <a:gd name="adj" fmla="val 10129"/>
            </a:avLst>
          </a:prstGeom>
          <a:solidFill>
            <a:srgbClr val="667EE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3210450" y="3110805"/>
            <a:ext cx="13430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phase_1_5_state.yaml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3210450" y="3272730"/>
            <a:ext cx="13430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TenElementModel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4836616" y="1050875"/>
            <a:ext cx="888950" cy="888950"/>
          </a:xfrm>
          <a:prstGeom prst="roundRect">
            <a:avLst>
              <a:gd name="adj" fmla="val 102863"/>
            </a:avLst>
          </a:prstGeom>
          <a:solidFill>
            <a:srgbClr val="4CAF50"/>
          </a:solidFill>
          <a:ln/>
          <a:effectLst>
            <a:outerShdw sx="100000" sy="100000" kx="0" ky="0" algn="bl" rotWithShape="0" blurRad="152400" dist="50800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012085" y="796975"/>
            <a:ext cx="537716" cy="323552"/>
          </a:xfrm>
          <a:prstGeom prst="roundRect">
            <a:avLst>
              <a:gd name="adj" fmla="val 31402"/>
            </a:avLst>
          </a:prstGeom>
          <a:solidFill>
            <a:srgbClr val="4A55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088285" y="911126"/>
            <a:ext cx="3930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10-48min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064919" y="1293763"/>
            <a:ext cx="44084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071467" y="1566714"/>
            <a:ext cx="4274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专家协调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451449" y="2193727"/>
            <a:ext cx="1659285" cy="1669256"/>
          </a:xfrm>
          <a:prstGeom prst="roundRect">
            <a:avLst>
              <a:gd name="adj" fmla="val 4592"/>
            </a:avLst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4470499" y="2193727"/>
            <a:ext cx="0" cy="1669256"/>
          </a:xfrm>
          <a:prstGeom prst="line">
            <a:avLst/>
          </a:prstGeom>
          <a:noFill/>
          <a:ln w="38100">
            <a:solidFill>
              <a:srgbClr val="4CAF5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1050" y="2828330"/>
            <a:ext cx="1446547" cy="13007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t"/>
          <a:lstStyle/>
          <a:p>
            <a:pPr algn="l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并行专家分析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4591050" y="3034605"/>
            <a:ext cx="1446547" cy="13007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t"/>
          <a:lstStyle/>
          <a:p>
            <a:pPr algn="l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一致性校验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4591050" y="3240881"/>
            <a:ext cx="1418183" cy="520601"/>
          </a:xfrm>
          <a:prstGeom prst="roundRect">
            <a:avLst>
              <a:gd name="adj" fmla="val 9758"/>
            </a:avLst>
          </a:prstGeom>
          <a:solidFill>
            <a:srgbClr val="667EE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4628634" y="3367832"/>
            <a:ext cx="13430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phase_2_state.yaml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4628634" y="3529757"/>
            <a:ext cx="134301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4份专家报告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6254800" y="1050875"/>
            <a:ext cx="888950" cy="888950"/>
          </a:xfrm>
          <a:prstGeom prst="roundRect">
            <a:avLst>
              <a:gd name="adj" fmla="val 102863"/>
            </a:avLst>
          </a:prstGeom>
          <a:solidFill>
            <a:srgbClr val="F44336"/>
          </a:solidFill>
          <a:ln/>
          <a:effectLst>
            <a:outerShdw sx="100000" sy="100000" kx="0" ky="0" algn="bl" rotWithShape="0" blurRad="152400" dist="50800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6589068" y="606475"/>
            <a:ext cx="220117" cy="288727"/>
          </a:xfrm>
          <a:prstGeom prst="roundRect">
            <a:avLst>
              <a:gd name="adj" fmla="val 34618"/>
            </a:avLst>
          </a:prstGeom>
          <a:solidFill>
            <a:srgbClr val="D32F2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652468" y="707975"/>
            <a:ext cx="951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6430268" y="796975"/>
            <a:ext cx="537716" cy="323552"/>
          </a:xfrm>
          <a:prstGeom prst="roundRect">
            <a:avLst>
              <a:gd name="adj" fmla="val 31402"/>
            </a:avLst>
          </a:prstGeom>
          <a:solidFill>
            <a:srgbClr val="4A55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6506468" y="911126"/>
            <a:ext cx="3930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15-20min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6483102" y="1293763"/>
            <a:ext cx="44084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489650" y="1566714"/>
            <a:ext cx="4274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方案集成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869632" y="2193727"/>
            <a:ext cx="1659285" cy="1421755"/>
          </a:xfrm>
          <a:prstGeom prst="roundRect">
            <a:avLst>
              <a:gd name="adj" fmla="val 5360"/>
            </a:avLst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Shape 65"/>
          <p:cNvSpPr/>
          <p:nvPr/>
        </p:nvSpPr>
        <p:spPr>
          <a:xfrm>
            <a:off x="5888682" y="2193727"/>
            <a:ext cx="0" cy="1421755"/>
          </a:xfrm>
          <a:prstGeom prst="line">
            <a:avLst/>
          </a:prstGeom>
          <a:noFill/>
          <a:ln w="38100">
            <a:solidFill>
              <a:srgbClr val="F4433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009233" y="2599879"/>
            <a:ext cx="1446547" cy="11102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t"/>
          <a:lstStyle/>
          <a:p>
            <a:pPr algn="l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Theory-to-Code</a:t>
            </a:r>
            <a:endParaRPr lang="en-US" sz="600" dirty="0"/>
          </a:p>
        </p:txBody>
      </p:sp>
      <p:sp>
        <p:nvSpPr>
          <p:cNvPr id="69" name="Text 67"/>
          <p:cNvSpPr/>
          <p:nvPr/>
        </p:nvSpPr>
        <p:spPr>
          <a:xfrm>
            <a:off x="6009233" y="2787104"/>
            <a:ext cx="1446547" cy="13007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t"/>
          <a:lstStyle/>
          <a:p>
            <a:pPr algn="l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生成文档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6009233" y="2993380"/>
            <a:ext cx="1418183" cy="520601"/>
          </a:xfrm>
          <a:prstGeom prst="roundRect">
            <a:avLst>
              <a:gd name="adj" fmla="val 9758"/>
            </a:avLst>
          </a:prstGeom>
          <a:solidFill>
            <a:srgbClr val="667EE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6046817" y="3120330"/>
            <a:ext cx="13430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phase_3_state.yaml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6046817" y="3282255"/>
            <a:ext cx="134301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代码+文档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7672983" y="1050875"/>
            <a:ext cx="888950" cy="888950"/>
          </a:xfrm>
          <a:prstGeom prst="roundRect">
            <a:avLst>
              <a:gd name="adj" fmla="val 102863"/>
            </a:avLst>
          </a:prstGeom>
          <a:solidFill>
            <a:srgbClr val="00BCD4"/>
          </a:solidFill>
          <a:ln/>
          <a:effectLst>
            <a:outerShdw sx="100000" sy="100000" kx="0" ky="0" algn="bl" rotWithShape="0" blurRad="152400" dist="50800" dir="5400000">
              <a:srgbClr val="000000">
                <a:alpha val="1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7873157" y="796975"/>
            <a:ext cx="488305" cy="323552"/>
          </a:xfrm>
          <a:prstGeom prst="roundRect">
            <a:avLst>
              <a:gd name="adj" fmla="val 31402"/>
            </a:avLst>
          </a:prstGeom>
          <a:solidFill>
            <a:srgbClr val="4A556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7949357" y="911126"/>
            <a:ext cx="3426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9-12min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7901285" y="1293763"/>
            <a:ext cx="44084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7907834" y="1566714"/>
            <a:ext cx="4274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质量保证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7287816" y="2193727"/>
            <a:ext cx="1659285" cy="1431280"/>
          </a:xfrm>
          <a:prstGeom prst="roundRect">
            <a:avLst>
              <a:gd name="adj" fmla="val 5324"/>
            </a:avLst>
          </a:prstGeom>
          <a:solidFill>
            <a:srgbClr val="F7FAF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Shape 77"/>
          <p:cNvSpPr/>
          <p:nvPr/>
        </p:nvSpPr>
        <p:spPr>
          <a:xfrm>
            <a:off x="7306866" y="2193727"/>
            <a:ext cx="0" cy="1431280"/>
          </a:xfrm>
          <a:prstGeom prst="line">
            <a:avLst/>
          </a:prstGeom>
          <a:noFill/>
          <a:ln w="38100">
            <a:solidFill>
              <a:srgbClr val="00BCD4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427416" y="2571304"/>
            <a:ext cx="1446547" cy="13007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t"/>
          <a:lstStyle/>
          <a:p>
            <a:pPr algn="l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语法检查</a:t>
            </a:r>
            <a:endParaRPr lang="en-US" sz="600" dirty="0"/>
          </a:p>
        </p:txBody>
      </p:sp>
      <p:sp>
        <p:nvSpPr>
          <p:cNvPr id="81" name="Text 79"/>
          <p:cNvSpPr/>
          <p:nvPr/>
        </p:nvSpPr>
        <p:spPr>
          <a:xfrm>
            <a:off x="7427416" y="2777579"/>
            <a:ext cx="1446547" cy="13007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t"/>
          <a:lstStyle/>
          <a:p>
            <a:pPr algn="l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Guardrails验证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7427416" y="2983855"/>
            <a:ext cx="1418183" cy="539651"/>
          </a:xfrm>
          <a:prstGeom prst="roundRect">
            <a:avLst>
              <a:gd name="adj" fmla="val 9413"/>
            </a:avLst>
          </a:prstGeom>
          <a:solidFill>
            <a:srgbClr val="667EE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7465000" y="3110805"/>
            <a:ext cx="134301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最终交付物</a:t>
            </a:r>
            <a:endParaRPr lang="en-US" sz="600" dirty="0"/>
          </a:p>
        </p:txBody>
      </p:sp>
      <p:sp>
        <p:nvSpPr>
          <p:cNvPr id="84" name="Text 82"/>
          <p:cNvSpPr/>
          <p:nvPr/>
        </p:nvSpPr>
        <p:spPr>
          <a:xfrm>
            <a:off x="7465000" y="3291780"/>
            <a:ext cx="134301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可用率: 92%</a:t>
            </a:r>
            <a:endParaRPr lang="en-US" sz="600" dirty="0"/>
          </a:p>
        </p:txBody>
      </p:sp>
      <p:sp>
        <p:nvSpPr>
          <p:cNvPr id="85" name="Text 83"/>
          <p:cNvSpPr/>
          <p:nvPr/>
        </p:nvSpPr>
        <p:spPr>
          <a:xfrm>
            <a:off x="317450" y="3989933"/>
            <a:ext cx="8509099" cy="1098203"/>
          </a:xfrm>
          <a:prstGeom prst="roundRect">
            <a:avLst>
              <a:gd name="adj" fmla="val 6939"/>
            </a:avLst>
          </a:prstGeom>
          <a:solidFill>
            <a:srgbClr val="667EE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Shape 84"/>
          <p:cNvSpPr/>
          <p:nvPr/>
        </p:nvSpPr>
        <p:spPr>
          <a:xfrm>
            <a:off x="2360563" y="4116884"/>
            <a:ext cx="0" cy="844302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25287" y="4320034"/>
            <a:ext cx="194962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70-130min</a:t>
            </a:r>
            <a:endParaRPr lang="en-US" sz="1600" dirty="0"/>
          </a:p>
        </p:txBody>
      </p:sp>
      <p:sp>
        <p:nvSpPr>
          <p:cNvPr id="88" name="Text 86"/>
          <p:cNvSpPr/>
          <p:nvPr/>
        </p:nvSpPr>
        <p:spPr>
          <a:xfrm>
            <a:off x="425287" y="4659660"/>
            <a:ext cx="1949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端到端总时间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4471988" y="4116884"/>
            <a:ext cx="0" cy="844302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536711" y="4320034"/>
            <a:ext cx="194962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7个</a:t>
            </a:r>
            <a:endParaRPr lang="en-US" sz="1600" dirty="0"/>
          </a:p>
        </p:txBody>
      </p:sp>
      <p:sp>
        <p:nvSpPr>
          <p:cNvPr id="91" name="Text 89"/>
          <p:cNvSpPr/>
          <p:nvPr/>
        </p:nvSpPr>
        <p:spPr>
          <a:xfrm>
            <a:off x="2536711" y="4716810"/>
            <a:ext cx="1949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智能体协作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6583412" y="4116884"/>
            <a:ext cx="0" cy="844302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648136" y="4320034"/>
            <a:ext cx="1949628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4-6次</a:t>
            </a:r>
            <a:endParaRPr lang="en-US" sz="1600" dirty="0"/>
          </a:p>
        </p:txBody>
      </p:sp>
      <p:sp>
        <p:nvSpPr>
          <p:cNvPr id="94" name="Text 92"/>
          <p:cNvSpPr/>
          <p:nvPr/>
        </p:nvSpPr>
        <p:spPr>
          <a:xfrm>
            <a:off x="4648136" y="4716810"/>
            <a:ext cx="19496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人机交互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6759465" y="4320034"/>
            <a:ext cx="195934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6" name="Text 94"/>
          <p:cNvSpPr/>
          <p:nvPr/>
        </p:nvSpPr>
        <p:spPr>
          <a:xfrm>
            <a:off x="6759465" y="4659660"/>
            <a:ext cx="1959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可追溯性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APS智能体工作流程</dc:title>
  <dc:subject>PptxGenJS Presentation</dc:subject>
  <dc:creator>BMAD APS Team</dc:creator>
  <cp:lastModifiedBy>BMAD APS Team</cp:lastModifiedBy>
  <cp:revision>1</cp:revision>
  <dcterms:created xsi:type="dcterms:W3CDTF">2025-11-21T08:28:04Z</dcterms:created>
  <dcterms:modified xsi:type="dcterms:W3CDTF">2025-11-21T08:28:04Z</dcterms:modified>
</cp:coreProperties>
</file>